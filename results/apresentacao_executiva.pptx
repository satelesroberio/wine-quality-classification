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3A2E32"/>
                </a:solidFill>
                <a:latin typeface="Cambria"/>
              </a:rPr>
              <a:t>Proporção de vinhos por categoria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da base</c:v>
                </c:pt>
              </c:strCache>
            </c:strRef>
          </c:tx>
          <c:spPr>
            <a:solidFill>
              <a:srgbClr val="ECE2D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CE2D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Vinho Padrão</c:v>
                  </c:pt>
                  <c:pt idx="1">
                    <c:v>Vinho Premium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80.3</c:v>
                </c:pt>
                <c:pt idx="1">
                  <c:v>19.7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E3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3A2E32"/>
                </a:solidFill>
                <a:latin typeface="Cambria"/>
              </a:rPr>
              <a:t>Peso relativo na decisão do modelo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 relativo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Cloretos</c:v>
                  </c:pt>
                  <c:pt idx="1">
                    <c:v>Acidez Volátil</c:v>
                  </c:pt>
                  <c:pt idx="2">
                    <c:v>Densidade</c:v>
                  </c:pt>
                  <c:pt idx="3">
                    <c:v>Teor Alcoólico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</c:v>
                </c:pt>
                <c:pt idx="1">
                  <c:v>8</c:v>
                </c:pt>
                <c:pt idx="2">
                  <c:v>11.8</c:v>
                </c:pt>
                <c:pt idx="3">
                  <c:v>20.7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E3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Índice de equilíbrio (F1)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3A2E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67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E4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Modelo Linear</c:v>
                  </c:pt>
                  <c:pt idx="1">
                    <c:v>Reforço por Árvores</c:v>
                  </c:pt>
                  <c:pt idx="2">
                    <c:v>Árvores de Decisão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0.52</c:v>
                </c:pt>
                <c:pt idx="1">
                  <c:v>0.57</c:v>
                </c:pt>
                <c:pt idx="2">
                  <c:v>0.61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3A2E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A2E32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E8E0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8B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Diga: 'Hoje vou apresentar um projeto que usa ciência de dados para prever a qualidade de vinhos a partir de medições feitas na própria produção, antes mesmo da avaliação sensorial final.'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o problema de negócio: avaliação sensorial é cara, lenta e subjetiva. Mas os dados físico-químicos já existem. A proposta do projeto é usar esses dados para antecipar a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a binarização: transformamos a nota de 0 a 10 em duas classes de negócio, Premium (nota 7 ou mais) e Padrão. Isso torna o problema uma decisão direta: este lote tem perfil de Premium ou não?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tamanho e a qualidade da base: quase 6.500 amostras, 11 variáveis físico-químicas, sem dados faltantes. Mencione o cuidado de remover duplicatas antes de avaliar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importante: as classes são desbalanceadas, só 1 em cada 5 vinhos é Premium. Isso significa que acurácia simples engana - o projeto foi avaliado pela capacidade real de reconhecer os vinhos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Traduza os principais direcionadores encontrados: teor alcoólico é de longe o mais relevante, seguido por densidade, cloretos e acidez volátil - este último como sinal de defeito de fermentação.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três modelos foram testados e comparados de forma justa, nos mesmos dados. O modelo baseado em Árvores de Decisão (Random Forest, tecnicamente) teve o melhor equilíbrio entre encontrar vinhos Premium e não errar demais.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Traduza as métricas técnicas em confiança de negócio: de cada 10 vinhos apontados como Premium, 5 a 6 realmente são; o modelo encontra 7 em cada 10 vinhos Premium reais; e tem alta capacidade geral de separar as duas categorias.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as recomendações práticas: usar o modelo como apoio à triagem, monitorar teor alcoólico, tratar acidez volátil como alerta de defeito, e recalibrar a dosagem de conservantes pela proporção livre/total.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Diga: 'Como próximos passos, propomos ampliar a base com novas safras e ajustar os limiares com o retorno dos enólogos. O repositório completo está linkado no slide. Obrigado.'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elesroberio/wine-quality-classification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1097280"/>
            <a:ext cx="3840480" cy="3840480"/>
          </a:xfrm>
          <a:prstGeom prst="ellipse">
            <a:avLst/>
          </a:prstGeom>
          <a:solidFill>
            <a:srgbClr val="A2676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A26769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13248" y="1234440"/>
            <a:ext cx="1371600" cy="1371600"/>
          </a:xfrm>
          <a:prstGeom prst="ellipse">
            <a:avLst/>
          </a:prstGeom>
          <a:solidFill>
            <a:srgbClr val="A26769"/>
          </a:solidFill>
          <a:ln/>
        </p:spPr>
      </p:sp>
      <p:pic>
        <p:nvPicPr>
          <p:cNvPr id="5" name="Image 0" descr="/private/tmp/claude-501/-Users-roberioteles-pasta-sem-t-tulo/069735a8-2c81-493a-a1d2-dbb8983e9921/scratchpad/pptx/icons/wine_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3288" y="155448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8036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Prevendo a Qualidade do Vinho com Dados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371600" y="379476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ciência de dados pode apoiar decisões de produção e qualidade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59436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POSTECH  |  Tech Challenge Fase 2  -  Data Analytics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371600" y="626364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Robério da Cruz Sá Teles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 de avaliar qualidade hoje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0195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68249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 demorado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203911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sensorial por especialistas é detalhada, mas consome tempo em cada lote produzido.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8" name="Image 1" descr="/private/tmp/claude-501/-Users-roberioteles-pasta-sem-t-tulo/069735a8-2c81-493a-a1d2-dbb8983e9921/scratchpad/pptx/icons/user_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1071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319125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do avaliador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08760" y="354787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Aroma, sabor e equilíbrio são julgados pela experiência de quem avalia - com variação natural entre especialistas.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40080" y="47548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2" name="Image 2" descr="/private/tmp/claude-501/-Users-roberioteles-pasta-sem-t-tulo/069735a8-2c81-493a-a1d2-dbb8983e9921/scratchpad/pptx/icons/fl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91947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470001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dado já existe - e é pouco aproveitado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1508760" y="505663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Medições físico-químicas (acidez, açúcar, teor alcoólico e outras) já são coletadas rotineiramente durante a produção.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63640" y="173736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ECE2D0"/>
          </a:solidFill>
          <a:ln/>
        </p:spPr>
      </p:sp>
      <p:sp>
        <p:nvSpPr>
          <p:cNvPr id="16" name="Text 11"/>
          <p:cNvSpPr/>
          <p:nvPr/>
        </p:nvSpPr>
        <p:spPr>
          <a:xfrm>
            <a:off x="658368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por trás do projeto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583680" y="25146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3A2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 já medimos as características físico-químicas de cada lote, conseguimos usar esses números para estimar, com antecedência, a chance de um vinho ser classificado como Premium?”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a nota dos especialistas em uma decisão prática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vinho da base tem uma nota de 0 a 10 dada por especialistas. Para apoiar uma decisão direta de negócio, simplificamos essa nota em duas categorias: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6D2E46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Vinho Premium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246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≥ 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60120" y="41605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1 em cada 5 vinhos da base analisada.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2514600"/>
            <a:ext cx="5212080" cy="3291840"/>
          </a:xfrm>
          <a:prstGeom prst="roundRect">
            <a:avLst>
              <a:gd name="adj" fmla="val 3333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743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Vinho Padrão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0" y="3246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 &lt; 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583680" y="41605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vinhos da base - qualidade boa, mas não excepcional.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analisada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237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/>
          <p:nvPr/>
        </p:nvSpPr>
        <p:spPr>
          <a:xfrm>
            <a:off x="7237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6.497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237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amostras de vinho analisadas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669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/>
          <p:nvPr/>
        </p:nvSpPr>
        <p:spPr>
          <a:xfrm>
            <a:off x="34669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669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medições físico-químicas por amostra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01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/>
          <p:nvPr/>
        </p:nvSpPr>
        <p:spPr>
          <a:xfrm>
            <a:off x="62101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2101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vinho: tinto e branco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53348" y="19202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/>
          <p:nvPr/>
        </p:nvSpPr>
        <p:spPr>
          <a:xfrm>
            <a:off x="8953348" y="22402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953348" y="3017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faltantes na base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modelagem, identificamos que 18,1% das linhas eram duplicadas (mesmo perfil físico-químico repetido) e removemos essas repetições para garantir uma avaliação justa do modelo.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desafio escondido nos dados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69164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691640"/>
            <a:ext cx="4892040" cy="4023360"/>
          </a:xfrm>
          <a:prstGeom prst="roundRect">
            <a:avLst>
              <a:gd name="adj" fmla="val 2727"/>
            </a:avLst>
          </a:prstGeom>
          <a:solidFill>
            <a:srgbClr val="6D2E46"/>
          </a:solidFill>
          <a:ln/>
        </p:spPr>
      </p:sp>
      <p:sp>
        <p:nvSpPr>
          <p:cNvPr id="5" name="Text 2"/>
          <p:cNvSpPr/>
          <p:nvPr/>
        </p:nvSpPr>
        <p:spPr>
          <a:xfrm>
            <a:off x="6995160" y="19659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Apenas 1 em cada 5 vinhos é Premium.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995160" y="278892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muda o que significa “acertar”: um modelo preguiçoso que dissesse “nenhum vinho é Premium” já pareceria certo em 8 de cada 10 casos - e ainda assim seria completamente inútil na prática.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0E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o critério de sucesso do projeto foi a capacidade real de encontrar os vinhos Premium, e não apenas a taxa de acerto geral.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mais diferencia um vinho Premium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69164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7830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5" name="Image 0" descr="/private/tmp/claude-501/-Users-roberioteles-pasta-sem-t-tulo/069735a8-2c81-493a-a1d2-dbb8983e9921/scratchpad/pptx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947672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43800" y="17282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 alcoólico mais alto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7543800" y="20848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fator mais relevante isoladamente - associado a uvas mais maduras e fermentação mais completa.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675120" y="31546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9" name="Image 1" descr="/private/tmp/claude-501/-Users-roberioteles-pasta-sem-t-tulo/069735a8-2c81-493a-a1d2-dbb8983e9921/scratchpad/pptx/icons/we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3319272"/>
            <a:ext cx="310896" cy="3108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543800" y="30998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Densidade mais baixa</a:t>
            </a:r>
            <a:endParaRPr lang="en-US" sz="1700" dirty="0"/>
          </a:p>
        </p:txBody>
      </p:sp>
      <p:sp>
        <p:nvSpPr>
          <p:cNvPr id="11" name="Text 6"/>
          <p:cNvSpPr/>
          <p:nvPr/>
        </p:nvSpPr>
        <p:spPr>
          <a:xfrm>
            <a:off x="7543800" y="34564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naturalmente o maior teor alcoólico do vinho.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675120" y="452628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3" name="Image 2" descr="/private/tmp/claude-501/-Users-roberioteles-pasta-sem-t-tulo/069735a8-2c81-493a-a1d2-dbb8983e9921/scratchpad/pptx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4690872"/>
            <a:ext cx="310896" cy="31089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543800" y="447141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acidez volátil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7543800" y="4828032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 ausência de defeitos de fermentação (contaminação bacteriana).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preditivo construído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Testamos três abordagens estatísticas de previsão e comparamos o desempenho de cada uma na tarefa mais difícil: reconhecer corretamente os vinhos Premium, sem apontar Premium em excesso.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88720" y="21488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dos modelos testados (quanto maior, melhor)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188720" y="2606040"/>
          <a:ext cx="97840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88720" y="598932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Árvores de Decisão foi o modelo escolhido: melhor equilíbrio entre encontrar vinhos Premium e não errar demais.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Quão confiável é o modelo escolhido?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23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4" name="Text 2"/>
          <p:cNvSpPr/>
          <p:nvPr/>
        </p:nvSpPr>
        <p:spPr>
          <a:xfrm>
            <a:off x="7923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923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vinhos apontados como Premium pelo modelo realmente são Premium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99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7" name="Text 5"/>
          <p:cNvSpPr/>
          <p:nvPr/>
        </p:nvSpPr>
        <p:spPr>
          <a:xfrm>
            <a:off x="44499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4499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vinhos realmente Premium são corretamente identificados pelo modelo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7528" y="201168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A26769"/>
          </a:solidFill>
          <a:ln/>
        </p:spPr>
      </p:sp>
      <p:sp>
        <p:nvSpPr>
          <p:cNvPr id="10" name="Text 8"/>
          <p:cNvSpPr/>
          <p:nvPr/>
        </p:nvSpPr>
        <p:spPr>
          <a:xfrm>
            <a:off x="8107528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107528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capacidade de separar corretamente vinhos Premium dos demais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Recomendações para o processo produtivo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indus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0195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68249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à decisão, não substituto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508760" y="20391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prioriza lotes para revisão dos especialistas - a avaliação sensorial continua sendo a decisão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329184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8" name="Image 1" descr="/private/tmp/claude-501/-Users-roberioteles-pasta-sem-t-tulo/069735a8-2c81-493a-a1d2-dbb8983e9921/scratchpad/pptx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45643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32369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Monitorar o teor alcoólico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08760" y="35935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alavanca identificada - relevante nas decisões de ponto de colheita e condução da fermentação.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09360" y="173736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2" name="Image 2" descr="/private/tmp/claude-501/-Users-roberioteles-pasta-sem-t-tulo/069735a8-2c81-493a-a1d2-dbb8983e9921/scratchpad/pptx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90195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78040" y="168249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acidez volátil como alerta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7178040" y="20391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como indicador precoce de defeito de fermentação - reforçar controle sanitário e de temperatura.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309360" y="329184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pic>
        <p:nvPicPr>
          <p:cNvPr id="16" name="Image 3" descr="/private/tmp/claude-501/-Users-roberioteles-pasta-sem-t-tulo/069735a8-2c81-493a-a1d2-dbb8983e9921/scratchpad/pptx/icons/t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5643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178040" y="32369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Recalibrar dosagem de conservantes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7178040" y="35935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3A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importa é a proporção de conservante ativo sobre o total, não apenas o volume aplicado.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Fase 2  -  Classificando a qualidade de vinhos com Machine Learning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A26769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13248" y="1097280"/>
            <a:ext cx="1188720" cy="1188720"/>
          </a:xfrm>
          <a:prstGeom prst="ellipse">
            <a:avLst/>
          </a:prstGeom>
          <a:solidFill>
            <a:srgbClr val="A26769"/>
          </a:solidFill>
          <a:ln/>
        </p:spPr>
      </p:sp>
      <p:pic>
        <p:nvPicPr>
          <p:cNvPr id="4" name="Image 0" descr="/private/tmp/claude-501/-Users-roberioteles-pasta-sem-t-tulo/069735a8-2c81-493a-a1d2-dbb8983e9921/scratchpad/pptx/icon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7568" y="137160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251460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645920" y="329184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a base com novas safras  •  revisar limiares de decisão com o retorno dos enólogos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645920" y="507492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8C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notebooks e detalhamento técnico completo no repositório do projeto:</a:t>
            </a:r>
            <a:endParaRPr lang="en-US" sz="125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1645920" y="544068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github.com/satelesroberio/wine-quality-classification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45920" y="6080760"/>
            <a:ext cx="8897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2026-07-14T19:04:22Z</dcterms:created>
  <dcterms:modified xsi:type="dcterms:W3CDTF">2026-07-14T19:04:22Z</dcterms:modified>
</cp:coreProperties>
</file>