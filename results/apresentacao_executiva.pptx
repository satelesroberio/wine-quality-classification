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E3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3A2E32"/>
                </a:solidFill>
                <a:latin typeface="Cambria"/>
              </a:rPr>
              <a:t>Proporção de vinhos por categoria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base</c:v>
                </c:pt>
              </c:strCache>
            </c:strRef>
          </c:tx>
          <c:spPr>
            <a:solidFill>
              <a:srgbClr val="ECE2D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A2E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E2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Vinho Padrão</c:v>
                  </c:pt>
                  <c:pt idx="1">
                    <c:v>Vinho Premium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80.3</c:v>
                </c:pt>
                <c:pt idx="1">
                  <c:v>19.7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3A2E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8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8B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2E3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3A2E32"/>
                </a:solidFill>
                <a:latin typeface="Cambria"/>
              </a:rPr>
              <a:t>Peso relativo na decisão do modelo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relativo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2E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Cloretos</c:v>
                  </c:pt>
                  <c:pt idx="1">
                    <c:v>Acidez Volátil</c:v>
                  </c:pt>
                  <c:pt idx="2">
                    <c:v>Densidade</c:v>
                  </c:pt>
                  <c:pt idx="3">
                    <c:v>Teor Alcoólico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</c:v>
                </c:pt>
                <c:pt idx="1">
                  <c:v>8</c:v>
                </c:pt>
                <c:pt idx="2">
                  <c:v>11.8</c:v>
                </c:pt>
                <c:pt idx="3">
                  <c:v>20.7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2E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3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8B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equilíbrio (F1)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A2E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Modelo Linear</c:v>
                  </c:pt>
                  <c:pt idx="1">
                    <c:v>Reforço por Árvores</c:v>
                  </c:pt>
                  <c:pt idx="2">
                    <c:v>Árvores de Decisão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0.57</c:v>
                </c:pt>
                <c:pt idx="2">
                  <c:v>0.61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3A2E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2E32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E8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8B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Diga: 'Hoje vou apresentar um projeto que usa ciência de dados para prever a qualidade de vinhos a partir de medições feitas na própria produção, antes mesmo da avaliação sensorial final.'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problema de negócio: avaliação sensorial é cara, lenta e subjetiva. Mas os dados físico-químicos já existem. A proposta do projeto é usar esses dados para antecipar a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binarização: transformamos a nota de 0 a 10 em duas classes de negócio, Premium (nota 7 ou mais) e Padrão. Isso torna o problema uma decisão direta: este lote tem perfil de Premium ou não?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tamanho e a qualidade da base: quase 6.500 amostras, 11 variáveis físico-químicas, sem dados faltantes. Mencione o cuidado de remover duplicatas antes de avaliar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importante: as classes são desbalanceadas, só 1 em cada 5 vinhos é Premium. Isso significa que acurácia simples engana - o projeto foi avaliado pela capacidade real de reconhecer os vinhos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Traduza os principais direcionadores encontrados: teor alcoólico é de longe o mais relevante, seguido por densidade, cloretos e acidez volátil - este último como sinal de defeito de fermentação.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três modelos foram testados e comparados de forma justa, nos mesmos dados. O modelo baseado em Árvores de Decisão (Random Forest, tecnicamente) teve o melhor equilíbrio entre encontrar vinhos Premium e não errar demais.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Traduza as métricas técnicas em confiança de negócio: de cada 10 vinhos apontados como Premium, 5 a 6 realmente são; o modelo encontra 7 em cada 10 vinhos Premium reais; e tem alta capacidade geral de separar as duas categorias.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recomendações práticas: usar o modelo como apoio à triagem, monitorar teor alcoólico, tratar acidez volátil como alerta de defeito, e recalibrar a dosagem de conservantes pela proporção livre/total.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Diga: 'Como próximos passos, propomos ampliar a base com novas safras e ajustar os limiares com o retorno dos enólogos. O repositório completo está linkado no slide. Obrigado.'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telesroberio/wine-quality-classification/blob/main/results/video_executivo.mp4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telesroberio/wine-quality-classification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1097280"/>
            <a:ext cx="3840480" cy="384048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234440"/>
            <a:ext cx="1371600" cy="137160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5" name="Image 0" descr="/private/tmp/claude-501/-Users-roberioteles-pasta-sem-t-tulo/069735a8-2c81-493a-a1d2-dbb8983e9921/scratchpad/pptx/icons/wine_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15544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Prevendo a Qualidade do Vinho com Dados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947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ciência de dados pode apoiar decisões de produção e qualidade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70248" y="47091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4270248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Assista ao vídeo executivo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POSTECH  |  Tech Challenge Fase 2  -  Data Analytics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62636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Robério da Cruz Sá Teles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de avaliar qualidade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4" name="Image 0" descr="/private/tmp/claude-501/-Users-roberioteles-pasta-sem-t-tulo/069735a8-2c81-493a-a1d2-dbb8983e9921/scratchpad/pptx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824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demorado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08760" y="20391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sensorial por especialistas é detalhada, mas consome tempo em cada lote produzido.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/private/tmp/claude-501/-Users-roberioteles-pasta-sem-t-tulo/069735a8-2c81-493a-a1d2-dbb8983e9921/scratchpad/pptx/icons/user_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41071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1912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do avaliador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08760" y="35478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Aroma, sabor e equilíbrio são julgados pela experiência de quem avalia - com variação natural entre especialistas.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7548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2" descr="/private/tmp/claude-501/-Users-roberioteles-pasta-sem-t-tulo/069735a8-2c81-493a-a1d2-dbb8983e9921/scratchpad/pptx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91947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7000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dado já existe - e é pouco aproveitado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08760" y="505663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físico-químicas (acidez, açúcar, teor alcoólico e outras) já são coletadas rotineiramente durante a produção.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3640" y="173736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ECE2D0"/>
          </a:solidFill>
          <a:ln/>
        </p:spPr>
      </p:sp>
      <p:sp>
        <p:nvSpPr>
          <p:cNvPr id="16" name="Text 11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por trás do projeto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já medimos as características físico-químicas de cada lote, conseguimos usar esses números para estimar, com antecedência, a chance de um vinho ser classificado como Premium?”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 a nota dos especialistas em uma decisão prática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vinho da base tem uma nota de 0 a 10 dada por especialistas. Para apoiar uma decisão direta de negócio, simplificamos essa nota em duas categorias: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Vinho Premium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≥ 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4160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0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 em cada 5 vinhos da base analisada.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ECE2D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Vinho Padrão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3246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&lt; 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83680" y="4160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vinhos da base - qualidade boa, mas não excepcional.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analisada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3748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/>
          <p:nvPr/>
        </p:nvSpPr>
        <p:spPr>
          <a:xfrm>
            <a:off x="723748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6.497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23748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de vinho analisadas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66948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CE2D0"/>
          </a:solidFill>
          <a:ln/>
        </p:spPr>
      </p:sp>
      <p:sp>
        <p:nvSpPr>
          <p:cNvPr id="7" name="Text 5"/>
          <p:cNvSpPr/>
          <p:nvPr/>
        </p:nvSpPr>
        <p:spPr>
          <a:xfrm>
            <a:off x="3466948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66948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físico-químicas por amostra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0148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CE2D0"/>
          </a:solidFill>
          <a:ln/>
        </p:spPr>
      </p:sp>
      <p:sp>
        <p:nvSpPr>
          <p:cNvPr id="10" name="Text 8"/>
          <p:cNvSpPr/>
          <p:nvPr/>
        </p:nvSpPr>
        <p:spPr>
          <a:xfrm>
            <a:off x="6210148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10148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vinho: tinto e branco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53348" y="19202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CE2D0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348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953348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 na base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44805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modelagem, identificamos que 18,1% das linhas eram duplicadas (mesmo perfil físico-químico repetido) e removemos essas repetições para garantir uma avaliação justa do modelo.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desafio escondido nos dados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9164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691640"/>
            <a:ext cx="4892040" cy="4023360"/>
          </a:xfrm>
          <a:prstGeom prst="roundRect">
            <a:avLst>
              <a:gd name="adj" fmla="val 2727"/>
            </a:avLst>
          </a:prstGeom>
          <a:solidFill>
            <a:srgbClr val="6D2E46"/>
          </a:solidFill>
          <a:ln/>
        </p:spPr>
      </p:sp>
      <p:sp>
        <p:nvSpPr>
          <p:cNvPr id="5" name="Text 2"/>
          <p:cNvSpPr/>
          <p:nvPr/>
        </p:nvSpPr>
        <p:spPr>
          <a:xfrm>
            <a:off x="699516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Apenas 1 em cada 5 vinhos é Premium.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995160" y="27889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0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o que significa “acertar”: um modelo preguiçoso que dissesse “nenhum vinho é Premium” já pareceria certo em 8 de cada 10 casos - e ainda assim seria completamente inútil na prática.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0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o critério de sucesso do projeto foi a capacidade real de encontrar os vinhos Premium, e não apenas a taxa de acerto geral.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diferencia um vinho Premium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9164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7830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/private/tmp/claude-501/-Users-roberioteles-pasta-sem-t-tulo/069735a8-2c81-493a-a1d2-dbb8983e9921/scratchpad/pptx/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947672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43800" y="17282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 alcoólico mais alto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543800" y="208483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mais relevante isoladamente - associado a uvas mais maduras e fermentação mais completa.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675120" y="31546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/private/tmp/claude-501/-Users-roberioteles-pasta-sem-t-tulo/069735a8-2c81-493a-a1d2-dbb8983e9921/scratchpad/pptx/icons/we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331927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3800" y="30998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Densidade mais baixa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543800" y="345643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naturalmente o maior teor alcoólico do vinho.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675120" y="45262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/private/tmp/claude-501/-Users-roberioteles-pasta-sem-t-tulo/069735a8-2c81-493a-a1d2-dbb8983e9921/scratchpad/pptx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469087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3800" y="44714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acidez volátil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543800" y="482803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ausência de defeitos de fermentação (contaminação bacteriana).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preditivo construído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três abordagens estatísticas de previsão e comparamos o desempenho de cada uma na tarefa mais difícil: reconhecer corretamente os vinhos Premium, sem apontar Premium em excesso.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148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dos modelos testados (quanto maior, melhor)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188720" y="2606040"/>
          <a:ext cx="9784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88720" y="59893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 foi o modelo escolhido: melhor equilíbrio entre encontrar vinhos Premium e não errar demais.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Quão confiável é o modelo escolhido?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2328" y="20116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A26769"/>
          </a:solidFill>
          <a:ln/>
        </p:spPr>
      </p:sp>
      <p:sp>
        <p:nvSpPr>
          <p:cNvPr id="4" name="Text 2"/>
          <p:cNvSpPr/>
          <p:nvPr/>
        </p:nvSpPr>
        <p:spPr>
          <a:xfrm>
            <a:off x="792328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92328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apontados como Premium pelo modelo realmente são Premium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9928" y="20116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4449928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49928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realmente Premium são corretamente identificados pelo modelo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7528" y="201168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8107528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07528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capacidade de separar corretamente vinhos Premium dos demais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para o processo produtivo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4" name="Image 0" descr="/private/tmp/claude-501/-Users-roberioteles-pasta-sem-t-tulo/069735a8-2c81-493a-a1d2-dbb8983e9921/scratchpad/pptx/icons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824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 à decisão, não substituto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08760" y="20391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prioriza lotes para revisão dos especialistas - a avaliação sensorial continua sendo a decisão final.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/private/tmp/claude-501/-Users-roberioteles-pasta-sem-t-tulo/069735a8-2c81-493a-a1d2-dbb8983e9921/scratchpad/pptx/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45643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2369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Monitorar o teor alcoólico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08760" y="35935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alavanca identificada - relevante nas decisões de ponto de colheita e condução da fermentação.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2" descr="/private/tmp/claude-501/-Users-roberioteles-pasta-sem-t-tulo/069735a8-2c81-493a-a1d2-dbb8983e9921/scratchpad/pptx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019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824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acidez volátil como alerta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178040" y="20391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indicador precoce de defeito de fermentação - reforçar controle sanitário e de temperatura.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09360" y="32918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3" descr="/private/tmp/claude-501/-Users-roberioteles-pasta-sem-t-tulo/069735a8-2c81-493a-a1d2-dbb8983e9921/scratchpad/pptx/icons/t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45643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32369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Recalibrar dosagem de conservantes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178040" y="35935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importa é a proporção de conservante ativo sobre o total, não apenas o volume aplicado.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2  -  Classificando a qualidade de vinhos com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13248" y="1097280"/>
            <a:ext cx="1188720" cy="11887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4" name="Image 0" descr="/private/tmp/claude-501/-Users-roberioteles-pasta-sem-t-tulo/069735a8-2c81-493a-a1d2-dbb8983e9921/scratchpad/pptx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1460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45920" y="329184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base com novas safras  •  revisar limiares de decisão com o retorno dos enólogos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507492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8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notebooks e detalhamento técnico completo no repositório do projeto:</a:t>
            </a:r>
            <a:endParaRPr lang="en-US" sz="125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1645920" y="544068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github.com/satelesroberio/wine-quality-classification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608076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2026-07-14T19:51:34Z</dcterms:created>
  <dcterms:modified xsi:type="dcterms:W3CDTF">2026-07-14T19:51:34Z</dcterms:modified>
</cp:coreProperties>
</file>